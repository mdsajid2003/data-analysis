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Oswald Medium"/>
      <p:regular r:id="rId20"/>
      <p:bold r:id="rId21"/>
    </p:embeddedFont>
    <p:embeddedFont>
      <p:font typeface="Roboto"/>
      <p:regular r:id="rId22"/>
      <p:bold r:id="rId23"/>
      <p:italic r:id="rId24"/>
      <p:boldItalic r:id="rId25"/>
    </p:embeddedFont>
    <p:embeddedFont>
      <p:font typeface="Roboto Light"/>
      <p:regular r:id="rId26"/>
      <p:bold r:id="rId27"/>
      <p:italic r:id="rId28"/>
      <p:boldItalic r:id="rId29"/>
    </p:embeddedFont>
    <p:embeddedFont>
      <p:font typeface="Oswald"/>
      <p:regular r:id="rId30"/>
      <p:bold r:id="rId31"/>
    </p:embeddedFont>
    <p:embeddedFont>
      <p:font typeface="Nunito Light"/>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swaldMedium-regular.fntdata"/><Relationship Id="rId22" Type="http://schemas.openxmlformats.org/officeDocument/2006/relationships/font" Target="fonts/Roboto-regular.fntdata"/><Relationship Id="rId21" Type="http://schemas.openxmlformats.org/officeDocument/2006/relationships/font" Target="fonts/OswaldMedium-bold.fntdata"/><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Light-regular.fntdata"/><Relationship Id="rId25" Type="http://schemas.openxmlformats.org/officeDocument/2006/relationships/font" Target="fonts/Roboto-boldItalic.fntdata"/><Relationship Id="rId28" Type="http://schemas.openxmlformats.org/officeDocument/2006/relationships/font" Target="fonts/RobotoLight-italic.fntdata"/><Relationship Id="rId27" Type="http://schemas.openxmlformats.org/officeDocument/2006/relationships/font" Target="fonts/RobotoLight-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Light-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swald-bold.fntdata"/><Relationship Id="rId30" Type="http://schemas.openxmlformats.org/officeDocument/2006/relationships/font" Target="fonts/Oswald-regular.fntdata"/><Relationship Id="rId11" Type="http://schemas.openxmlformats.org/officeDocument/2006/relationships/slide" Target="slides/slide6.xml"/><Relationship Id="rId33" Type="http://schemas.openxmlformats.org/officeDocument/2006/relationships/font" Target="fonts/NunitoLight-bold.fntdata"/><Relationship Id="rId10" Type="http://schemas.openxmlformats.org/officeDocument/2006/relationships/slide" Target="slides/slide5.xml"/><Relationship Id="rId32" Type="http://schemas.openxmlformats.org/officeDocument/2006/relationships/font" Target="fonts/NunitoLight-regular.fntdata"/><Relationship Id="rId13" Type="http://schemas.openxmlformats.org/officeDocument/2006/relationships/slide" Target="slides/slide8.xml"/><Relationship Id="rId35" Type="http://schemas.openxmlformats.org/officeDocument/2006/relationships/font" Target="fonts/NunitoLight-boldItalic.fntdata"/><Relationship Id="rId12" Type="http://schemas.openxmlformats.org/officeDocument/2006/relationships/slide" Target="slides/slide7.xml"/><Relationship Id="rId34" Type="http://schemas.openxmlformats.org/officeDocument/2006/relationships/font" Target="fonts/NunitoLight-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f4f4bc9aa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f4f4bc9aa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f9f517ca5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f9f517ca5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f9f517ca5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f9f517ca5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f9f517ca5a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f9f517ca5a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f9f517ca5a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f9f517ca5a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f9f517ca5a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f9f517ca5a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f9f517ca5a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f9f517ca5a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f9f517ca5a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f9f517ca5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f9f517ca5a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f9f517ca5a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f9f517ca5a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f9f517ca5a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f9f517ca5a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f9f517ca5a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f9f517ca5a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f9f517ca5a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f9f517ca5a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f9f517ca5a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000"/>
              <a:buNone/>
              <a:defRPr sz="5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9" name="Google Shape;19;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200"/>
              <a:buFont typeface="Roboto Light"/>
              <a:buNone/>
              <a:defRPr sz="2200">
                <a:latin typeface="Roboto Light"/>
                <a:ea typeface="Roboto Light"/>
                <a:cs typeface="Roboto Light"/>
                <a:sym typeface="Roboto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3" name="Google Shape;2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 name="Shape 24"/>
        <p:cNvGrpSpPr/>
        <p:nvPr/>
      </p:nvGrpSpPr>
      <p:grpSpPr>
        <a:xfrm>
          <a:off x="0" y="0"/>
          <a:ext cx="0" cy="0"/>
          <a:chOff x="0" y="0"/>
          <a:chExt cx="0" cy="0"/>
        </a:xfrm>
      </p:grpSpPr>
      <p:sp>
        <p:nvSpPr>
          <p:cNvPr id="25" name="Google Shape;25;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 name="Google Shape;26;p4"/>
          <p:cNvSpPr txBox="1"/>
          <p:nvPr>
            <p:ph idx="1" type="body"/>
          </p:nvPr>
        </p:nvSpPr>
        <p:spPr>
          <a:xfrm>
            <a:off x="311700" y="1152475"/>
            <a:ext cx="82677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7" name="Google Shape;2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8" name="Google Shape;38;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9" name="Google Shape;39;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0" name="Shape 40"/>
        <p:cNvGrpSpPr/>
        <p:nvPr/>
      </p:nvGrpSpPr>
      <p:grpSpPr>
        <a:xfrm>
          <a:off x="0" y="0"/>
          <a:ext cx="0" cy="0"/>
          <a:chOff x="0" y="0"/>
          <a:chExt cx="0" cy="0"/>
        </a:xfrm>
      </p:grpSpPr>
      <p:sp>
        <p:nvSpPr>
          <p:cNvPr id="41" name="Google Shape;41;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2" name="Google Shape;42;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3" name="Shape 43"/>
        <p:cNvGrpSpPr/>
        <p:nvPr/>
      </p:nvGrpSpPr>
      <p:grpSpPr>
        <a:xfrm>
          <a:off x="0" y="0"/>
          <a:ext cx="0" cy="0"/>
          <a:chOff x="0" y="0"/>
          <a:chExt cx="0" cy="0"/>
        </a:xfrm>
      </p:grpSpPr>
      <p:sp>
        <p:nvSpPr>
          <p:cNvPr id="44" name="Google Shape;44;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6" name="Google Shape;46;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7" name="Google Shape;47;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8" name="Google Shape;4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51" name="Google Shape;5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4" name="Google Shape;54;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7.xml"/><Relationship Id="rId10" Type="http://schemas.openxmlformats.org/officeDocument/2006/relationships/slideLayout" Target="../slideLayouts/slideLayout6.xml"/><Relationship Id="rId13" Type="http://schemas.openxmlformats.org/officeDocument/2006/relationships/slideLayout" Target="../slideLayouts/slideLayout9.xml"/><Relationship Id="rId12" Type="http://schemas.openxmlformats.org/officeDocument/2006/relationships/slideLayout" Target="../slideLayouts/slideLayout8.xml"/><Relationship Id="rId1" Type="http://schemas.openxmlformats.org/officeDocument/2006/relationships/image" Target="../media/image1.png"/><Relationship Id="rId2" Type="http://schemas.openxmlformats.org/officeDocument/2006/relationships/image" Target="../media/image7.png"/><Relationship Id="rId3" Type="http://schemas.openxmlformats.org/officeDocument/2006/relationships/image" Target="../media/image10.png"/><Relationship Id="rId4" Type="http://schemas.openxmlformats.org/officeDocument/2006/relationships/image" Target="../media/image3.png"/><Relationship Id="rId9" Type="http://schemas.openxmlformats.org/officeDocument/2006/relationships/slideLayout" Target="../slideLayouts/slideLayout5.xml"/><Relationship Id="rId15" Type="http://schemas.openxmlformats.org/officeDocument/2006/relationships/slideLayout" Target="../slideLayouts/slideLayout11.xml"/><Relationship Id="rId14" Type="http://schemas.openxmlformats.org/officeDocument/2006/relationships/slideLayout" Target="../slideLayouts/slideLayout10.xml"/><Relationship Id="rId16" Type="http://schemas.openxmlformats.org/officeDocument/2006/relationships/theme" Target="../theme/theme2.xml"/><Relationship Id="rId5" Type="http://schemas.openxmlformats.org/officeDocument/2006/relationships/slideLayout" Target="../slideLayouts/slideLayout1.xml"/><Relationship Id="rId6" Type="http://schemas.openxmlformats.org/officeDocument/2006/relationships/slideLayout" Target="../slideLayouts/slideLayout2.xml"/><Relationship Id="rId7" Type="http://schemas.openxmlformats.org/officeDocument/2006/relationships/slideLayout" Target="../slideLayouts/slideLayout3.xml"/><Relationship Id="rId8"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pic>
        <p:nvPicPr>
          <p:cNvPr id="6" name="Google Shape;6;p1"/>
          <p:cNvPicPr preferRelativeResize="0"/>
          <p:nvPr/>
        </p:nvPicPr>
        <p:blipFill>
          <a:blip r:embed="rId1">
            <a:alphaModFix/>
          </a:blip>
          <a:stretch>
            <a:fillRect/>
          </a:stretch>
        </p:blipFill>
        <p:spPr>
          <a:xfrm>
            <a:off x="0" y="0"/>
            <a:ext cx="9144003" cy="5143501"/>
          </a:xfrm>
          <a:prstGeom prst="rect">
            <a:avLst/>
          </a:prstGeom>
          <a:noFill/>
          <a:ln>
            <a:noFill/>
          </a:ln>
        </p:spPr>
      </p:pic>
      <p:pic>
        <p:nvPicPr>
          <p:cNvPr id="7" name="Google Shape;7;p1"/>
          <p:cNvPicPr preferRelativeResize="0"/>
          <p:nvPr/>
        </p:nvPicPr>
        <p:blipFill>
          <a:blip r:embed="rId2">
            <a:alphaModFix/>
          </a:blip>
          <a:stretch>
            <a:fillRect/>
          </a:stretch>
        </p:blipFill>
        <p:spPr>
          <a:xfrm rot="-8400002">
            <a:off x="8800593" y="-90288"/>
            <a:ext cx="886149" cy="1343523"/>
          </a:xfrm>
          <a:prstGeom prst="rect">
            <a:avLst/>
          </a:prstGeom>
          <a:noFill/>
          <a:ln>
            <a:noFill/>
          </a:ln>
        </p:spPr>
      </p:pic>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p:cNvPicPr preferRelativeResize="0"/>
          <p:nvPr/>
        </p:nvPicPr>
        <p:blipFill>
          <a:blip r:embed="rId3">
            <a:alphaModFix/>
          </a:blip>
          <a:stretch>
            <a:fillRect/>
          </a:stretch>
        </p:blipFill>
        <p:spPr>
          <a:xfrm>
            <a:off x="1611224" y="4568875"/>
            <a:ext cx="886150" cy="1359349"/>
          </a:xfrm>
          <a:prstGeom prst="rect">
            <a:avLst/>
          </a:prstGeom>
          <a:noFill/>
          <a:ln>
            <a:noFill/>
          </a:ln>
        </p:spPr>
      </p:pic>
      <p:pic>
        <p:nvPicPr>
          <p:cNvPr id="10" name="Google Shape;10;p1"/>
          <p:cNvPicPr preferRelativeResize="0"/>
          <p:nvPr/>
        </p:nvPicPr>
        <p:blipFill>
          <a:blip r:embed="rId4">
            <a:alphaModFix/>
          </a:blip>
          <a:stretch>
            <a:fillRect/>
          </a:stretch>
        </p:blipFill>
        <p:spPr>
          <a:xfrm>
            <a:off x="5562800" y="4504275"/>
            <a:ext cx="987831" cy="1359349"/>
          </a:xfrm>
          <a:prstGeom prst="rect">
            <a:avLst/>
          </a:prstGeom>
          <a:noFill/>
          <a:ln>
            <a:noFill/>
          </a:ln>
        </p:spPr>
      </p:pic>
      <p:pic>
        <p:nvPicPr>
          <p:cNvPr id="11" name="Google Shape;11;p1"/>
          <p:cNvPicPr preferRelativeResize="0"/>
          <p:nvPr/>
        </p:nvPicPr>
        <p:blipFill>
          <a:blip r:embed="rId2">
            <a:alphaModFix/>
          </a:blip>
          <a:stretch>
            <a:fillRect/>
          </a:stretch>
        </p:blipFill>
        <p:spPr>
          <a:xfrm rot="1799997">
            <a:off x="-680594" y="2242087"/>
            <a:ext cx="886150" cy="1343523"/>
          </a:xfrm>
          <a:prstGeom prst="rect">
            <a:avLst/>
          </a:prstGeom>
          <a:noFill/>
          <a:ln>
            <a:noFill/>
          </a:ln>
        </p:spPr>
      </p:pic>
      <p:pic>
        <p:nvPicPr>
          <p:cNvPr id="12" name="Google Shape;12;p1"/>
          <p:cNvPicPr preferRelativeResize="0"/>
          <p:nvPr/>
        </p:nvPicPr>
        <p:blipFill>
          <a:blip r:embed="rId3">
            <a:alphaModFix/>
          </a:blip>
          <a:stretch>
            <a:fillRect/>
          </a:stretch>
        </p:blipFill>
        <p:spPr>
          <a:xfrm>
            <a:off x="4596699" y="-914325"/>
            <a:ext cx="886150" cy="1359349"/>
          </a:xfrm>
          <a:prstGeom prst="rect">
            <a:avLst/>
          </a:prstGeom>
          <a:noFill/>
          <a:ln>
            <a:noFill/>
          </a:ln>
        </p:spPr>
      </p:pic>
      <p:pic>
        <p:nvPicPr>
          <p:cNvPr id="13" name="Google Shape;13;p1"/>
          <p:cNvPicPr preferRelativeResize="0"/>
          <p:nvPr/>
        </p:nvPicPr>
        <p:blipFill>
          <a:blip r:embed="rId4">
            <a:alphaModFix/>
          </a:blip>
          <a:stretch>
            <a:fillRect/>
          </a:stretch>
        </p:blipFill>
        <p:spPr>
          <a:xfrm rot="5400000">
            <a:off x="8915051" y="2473999"/>
            <a:ext cx="987831" cy="1359352"/>
          </a:xfrm>
          <a:prstGeom prst="rect">
            <a:avLst/>
          </a:prstGeom>
          <a:noFill/>
          <a:ln>
            <a:noFill/>
          </a:ln>
        </p:spPr>
      </p:pic>
      <p:pic>
        <p:nvPicPr>
          <p:cNvPr id="14" name="Google Shape;14;p1"/>
          <p:cNvPicPr preferRelativeResize="0"/>
          <p:nvPr/>
        </p:nvPicPr>
        <p:blipFill>
          <a:blip r:embed="rId4">
            <a:alphaModFix/>
          </a:blip>
          <a:stretch>
            <a:fillRect/>
          </a:stretch>
        </p:blipFill>
        <p:spPr>
          <a:xfrm>
            <a:off x="229850" y="-854350"/>
            <a:ext cx="987831" cy="1359349"/>
          </a:xfrm>
          <a:prstGeom prst="rect">
            <a:avLst/>
          </a:prstGeom>
          <a:noFill/>
          <a:ln>
            <a:noFill/>
          </a:ln>
        </p:spPr>
      </p:pic>
      <p:sp>
        <p:nvSpPr>
          <p:cNvPr id="15" name="Google Shape;15;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Oswald Medium"/>
              <a:buNone/>
              <a:defRPr sz="2800">
                <a:solidFill>
                  <a:schemeClr val="dk1"/>
                </a:solidFill>
                <a:latin typeface="Oswald Medium"/>
                <a:ea typeface="Oswald Medium"/>
                <a:cs typeface="Oswald Medium"/>
                <a:sym typeface="Oswald Medium"/>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6" name="Google Shape;16;p1"/>
          <p:cNvSpPr txBox="1"/>
          <p:nvPr>
            <p:ph idx="1" type="body"/>
          </p:nvPr>
        </p:nvSpPr>
        <p:spPr>
          <a:xfrm>
            <a:off x="311700" y="1152475"/>
            <a:ext cx="82677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Roboto Light"/>
              <a:buChar char="●"/>
              <a:defRPr sz="1800">
                <a:solidFill>
                  <a:schemeClr val="dk1"/>
                </a:solidFill>
                <a:latin typeface="Roboto Light"/>
                <a:ea typeface="Roboto Light"/>
                <a:cs typeface="Roboto Light"/>
                <a:sym typeface="Roboto Light"/>
              </a:defRPr>
            </a:lvl1pPr>
            <a:lvl2pPr indent="-317500" lvl="1" marL="914400">
              <a:lnSpc>
                <a:spcPct val="115000"/>
              </a:lnSpc>
              <a:spcBef>
                <a:spcPts val="0"/>
              </a:spcBef>
              <a:spcAft>
                <a:spcPts val="0"/>
              </a:spcAft>
              <a:buClr>
                <a:schemeClr val="dk1"/>
              </a:buClr>
              <a:buSzPts val="1400"/>
              <a:buFont typeface="Roboto Light"/>
              <a:buChar char="○"/>
              <a:defRPr>
                <a:solidFill>
                  <a:schemeClr val="dk1"/>
                </a:solidFill>
                <a:latin typeface="Roboto Light"/>
                <a:ea typeface="Roboto Light"/>
                <a:cs typeface="Roboto Light"/>
                <a:sym typeface="Roboto Light"/>
              </a:defRPr>
            </a:lvl2pPr>
            <a:lvl3pPr indent="-317500" lvl="2" marL="1371600">
              <a:lnSpc>
                <a:spcPct val="115000"/>
              </a:lnSpc>
              <a:spcBef>
                <a:spcPts val="0"/>
              </a:spcBef>
              <a:spcAft>
                <a:spcPts val="0"/>
              </a:spcAft>
              <a:buClr>
                <a:schemeClr val="dk1"/>
              </a:buClr>
              <a:buSzPts val="1400"/>
              <a:buFont typeface="Roboto Light"/>
              <a:buChar char="■"/>
              <a:defRPr>
                <a:solidFill>
                  <a:schemeClr val="dk1"/>
                </a:solidFill>
                <a:latin typeface="Roboto Light"/>
                <a:ea typeface="Roboto Light"/>
                <a:cs typeface="Roboto Light"/>
                <a:sym typeface="Roboto Light"/>
              </a:defRPr>
            </a:lvl3pPr>
            <a:lvl4pPr indent="-317500" lvl="3" marL="1828800">
              <a:lnSpc>
                <a:spcPct val="115000"/>
              </a:lnSpc>
              <a:spcBef>
                <a:spcPts val="0"/>
              </a:spcBef>
              <a:spcAft>
                <a:spcPts val="0"/>
              </a:spcAft>
              <a:buClr>
                <a:schemeClr val="dk1"/>
              </a:buClr>
              <a:buSzPts val="1400"/>
              <a:buFont typeface="Roboto Light"/>
              <a:buChar char="●"/>
              <a:defRPr>
                <a:solidFill>
                  <a:schemeClr val="dk1"/>
                </a:solidFill>
                <a:latin typeface="Roboto Light"/>
                <a:ea typeface="Roboto Light"/>
                <a:cs typeface="Roboto Light"/>
                <a:sym typeface="Roboto Light"/>
              </a:defRPr>
            </a:lvl4pPr>
            <a:lvl5pPr indent="-317500" lvl="4" marL="2286000">
              <a:lnSpc>
                <a:spcPct val="115000"/>
              </a:lnSpc>
              <a:spcBef>
                <a:spcPts val="0"/>
              </a:spcBef>
              <a:spcAft>
                <a:spcPts val="0"/>
              </a:spcAft>
              <a:buClr>
                <a:schemeClr val="dk1"/>
              </a:buClr>
              <a:buSzPts val="1400"/>
              <a:buFont typeface="Roboto Light"/>
              <a:buChar char="○"/>
              <a:defRPr>
                <a:solidFill>
                  <a:schemeClr val="dk1"/>
                </a:solidFill>
                <a:latin typeface="Roboto Light"/>
                <a:ea typeface="Roboto Light"/>
                <a:cs typeface="Roboto Light"/>
                <a:sym typeface="Roboto Light"/>
              </a:defRPr>
            </a:lvl5pPr>
            <a:lvl6pPr indent="-317500" lvl="5" marL="2743200">
              <a:lnSpc>
                <a:spcPct val="115000"/>
              </a:lnSpc>
              <a:spcBef>
                <a:spcPts val="0"/>
              </a:spcBef>
              <a:spcAft>
                <a:spcPts val="0"/>
              </a:spcAft>
              <a:buClr>
                <a:schemeClr val="dk1"/>
              </a:buClr>
              <a:buSzPts val="1400"/>
              <a:buFont typeface="Roboto Light"/>
              <a:buChar char="■"/>
              <a:defRPr>
                <a:solidFill>
                  <a:schemeClr val="dk1"/>
                </a:solidFill>
                <a:latin typeface="Roboto Light"/>
                <a:ea typeface="Roboto Light"/>
                <a:cs typeface="Roboto Light"/>
                <a:sym typeface="Roboto Light"/>
              </a:defRPr>
            </a:lvl6pPr>
            <a:lvl7pPr indent="-317500" lvl="6" marL="3200400">
              <a:lnSpc>
                <a:spcPct val="115000"/>
              </a:lnSpc>
              <a:spcBef>
                <a:spcPts val="0"/>
              </a:spcBef>
              <a:spcAft>
                <a:spcPts val="0"/>
              </a:spcAft>
              <a:buClr>
                <a:schemeClr val="dk1"/>
              </a:buClr>
              <a:buSzPts val="1400"/>
              <a:buFont typeface="Roboto Light"/>
              <a:buChar char="●"/>
              <a:defRPr>
                <a:solidFill>
                  <a:schemeClr val="dk1"/>
                </a:solidFill>
                <a:latin typeface="Roboto Light"/>
                <a:ea typeface="Roboto Light"/>
                <a:cs typeface="Roboto Light"/>
                <a:sym typeface="Roboto Light"/>
              </a:defRPr>
            </a:lvl7pPr>
            <a:lvl8pPr indent="-317500" lvl="7" marL="3657600">
              <a:lnSpc>
                <a:spcPct val="115000"/>
              </a:lnSpc>
              <a:spcBef>
                <a:spcPts val="0"/>
              </a:spcBef>
              <a:spcAft>
                <a:spcPts val="0"/>
              </a:spcAft>
              <a:buClr>
                <a:schemeClr val="dk1"/>
              </a:buClr>
              <a:buSzPts val="1400"/>
              <a:buFont typeface="Roboto Light"/>
              <a:buChar char="○"/>
              <a:defRPr>
                <a:solidFill>
                  <a:schemeClr val="dk1"/>
                </a:solidFill>
                <a:latin typeface="Roboto Light"/>
                <a:ea typeface="Roboto Light"/>
                <a:cs typeface="Roboto Light"/>
                <a:sym typeface="Roboto Light"/>
              </a:defRPr>
            </a:lvl8pPr>
            <a:lvl9pPr indent="-317500" lvl="8" marL="4114800">
              <a:lnSpc>
                <a:spcPct val="115000"/>
              </a:lnSpc>
              <a:spcBef>
                <a:spcPts val="0"/>
              </a:spcBef>
              <a:spcAft>
                <a:spcPts val="0"/>
              </a:spcAft>
              <a:buClr>
                <a:schemeClr val="dk1"/>
              </a:buClr>
              <a:buSzPts val="1400"/>
              <a:buFont typeface="Roboto Light"/>
              <a:buChar char="■"/>
              <a:defRPr>
                <a:solidFill>
                  <a:schemeClr val="dk1"/>
                </a:solidFill>
                <a:latin typeface="Roboto Light"/>
                <a:ea typeface="Roboto Light"/>
                <a:cs typeface="Roboto Light"/>
                <a:sym typeface="Roboto Light"/>
              </a:defRPr>
            </a:lvl9pPr>
          </a:lstStyle>
          <a:p/>
        </p:txBody>
      </p:sp>
    </p:spTree>
  </p:cSld>
  <p:clrMap accent1="accent1" accent2="accent2" accent3="accent3" accent4="accent4" accent5="accent5" accent6="accent6" bg1="lt1" bg2="dk2" tx1="dk1" tx2="lt2" folHlink="folHlink" hlink="hlink"/>
  <p:sldLayoutIdLst>
    <p:sldLayoutId id="2147483648" r:id="rId5"/>
    <p:sldLayoutId id="2147483649" r:id="rId6"/>
    <p:sldLayoutId id="2147483650" r:id="rId7"/>
    <p:sldLayoutId id="2147483651" r:id="rId8"/>
    <p:sldLayoutId id="2147483652" r:id="rId9"/>
    <p:sldLayoutId id="2147483653" r:id="rId10"/>
    <p:sldLayoutId id="2147483654" r:id="rId11"/>
    <p:sldLayoutId id="2147483655" r:id="rId12"/>
    <p:sldLayoutId id="2147483656" r:id="rId13"/>
    <p:sldLayoutId id="2147483657" r:id="rId14"/>
    <p:sldLayoutId id="2147483658"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p:nvPr/>
        </p:nvSpPr>
        <p:spPr>
          <a:xfrm>
            <a:off x="541650" y="1829483"/>
            <a:ext cx="8061300" cy="924300"/>
          </a:xfrm>
          <a:prstGeom prst="roundRect">
            <a:avLst>
              <a:gd fmla="val 3356" name="adj"/>
            </a:avLst>
          </a:prstGeom>
          <a:solidFill>
            <a:srgbClr val="CCB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3"/>
          <p:cNvSpPr txBox="1"/>
          <p:nvPr>
            <p:ph type="ctrTitle"/>
          </p:nvPr>
        </p:nvSpPr>
        <p:spPr>
          <a:xfrm>
            <a:off x="731250" y="1734111"/>
            <a:ext cx="7871700" cy="1056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Citi Bike Data Analysis</a:t>
            </a:r>
            <a:endParaRPr/>
          </a:p>
        </p:txBody>
      </p:sp>
      <p:sp>
        <p:nvSpPr>
          <p:cNvPr id="64" name="Google Shape;64;p13"/>
          <p:cNvSpPr txBox="1"/>
          <p:nvPr>
            <p:ph idx="1" type="subTitle"/>
          </p:nvPr>
        </p:nvSpPr>
        <p:spPr>
          <a:xfrm>
            <a:off x="311700" y="290406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latin typeface="Nunito Light"/>
                <a:ea typeface="Nunito Light"/>
                <a:cs typeface="Nunito Light"/>
                <a:sym typeface="Nunito Light"/>
              </a:rPr>
              <a:t>By Mohammad Sajid</a:t>
            </a:r>
            <a:endParaRPr sz="2200">
              <a:solidFill>
                <a:schemeClr val="dk1"/>
              </a:solidFill>
              <a:latin typeface="Nunito Light"/>
              <a:ea typeface="Nunito Light"/>
              <a:cs typeface="Nunito Light"/>
              <a:sym typeface="Nunito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Goal:</a:t>
            </a:r>
            <a:endParaRPr/>
          </a:p>
        </p:txBody>
      </p:sp>
      <p:sp>
        <p:nvSpPr>
          <p:cNvPr id="70" name="Google Shape;70;p14"/>
          <p:cNvSpPr txBox="1"/>
          <p:nvPr>
            <p:ph idx="1" type="body"/>
          </p:nvPr>
        </p:nvSpPr>
        <p:spPr>
          <a:xfrm>
            <a:off x="311700" y="1152475"/>
            <a:ext cx="82677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i="1" lang="en"/>
              <a:t>To better understand the behavior of Citi Bike’s customer base (both one-time users and subscribers) and how they use Citi Bikes</a:t>
            </a:r>
            <a:br>
              <a:rPr i="1" lang="en"/>
            </a:br>
            <a:endParaRPr i="1"/>
          </a:p>
          <a:p>
            <a:pPr indent="-342900" lvl="0" marL="457200" rtl="0" algn="l">
              <a:spcBef>
                <a:spcPts val="0"/>
              </a:spcBef>
              <a:spcAft>
                <a:spcPts val="0"/>
              </a:spcAft>
              <a:buSzPts val="1800"/>
              <a:buChar char="●"/>
            </a:pPr>
            <a:r>
              <a:rPr i="1" lang="en"/>
              <a:t>This will help us to:</a:t>
            </a:r>
            <a:br>
              <a:rPr i="1" lang="en"/>
            </a:br>
            <a:endParaRPr i="1"/>
          </a:p>
          <a:p>
            <a:pPr indent="-317500" lvl="1" marL="914400" rtl="0" algn="l">
              <a:spcBef>
                <a:spcPts val="0"/>
              </a:spcBef>
              <a:spcAft>
                <a:spcPts val="0"/>
              </a:spcAft>
              <a:buSzPts val="1400"/>
              <a:buChar char="○"/>
            </a:pPr>
            <a:r>
              <a:rPr i="1" lang="en"/>
              <a:t>Identify where more bikes should be installed</a:t>
            </a:r>
            <a:endParaRPr i="1"/>
          </a:p>
          <a:p>
            <a:pPr indent="-317500" lvl="1" marL="914400" rtl="0" algn="l">
              <a:spcBef>
                <a:spcPts val="0"/>
              </a:spcBef>
              <a:spcAft>
                <a:spcPts val="0"/>
              </a:spcAft>
              <a:buSzPts val="1400"/>
              <a:buChar char="○"/>
            </a:pPr>
            <a:r>
              <a:rPr i="1" lang="en"/>
              <a:t>Create targeted </a:t>
            </a:r>
            <a:r>
              <a:rPr i="1" lang="en"/>
              <a:t>marketing</a:t>
            </a:r>
            <a:r>
              <a:rPr i="1" lang="en"/>
              <a:t> campaigns that will appeal to different customer segments</a:t>
            </a:r>
            <a:endParaRPr i="1"/>
          </a:p>
          <a:p>
            <a:pPr indent="0" lvl="0" marL="914400" rtl="0" algn="l">
              <a:spcBef>
                <a:spcPts val="1200"/>
              </a:spcBef>
              <a:spcAft>
                <a:spcPts val="1200"/>
              </a:spcAft>
              <a:buNone/>
            </a:pPr>
            <a:r>
              <a:t/>
            </a:r>
            <a:endParaRPr i="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questions:</a:t>
            </a:r>
            <a:endParaRPr/>
          </a:p>
        </p:txBody>
      </p:sp>
      <p:sp>
        <p:nvSpPr>
          <p:cNvPr id="76" name="Google Shape;76;p15"/>
          <p:cNvSpPr txBox="1"/>
          <p:nvPr>
            <p:ph idx="1" type="body"/>
          </p:nvPr>
        </p:nvSpPr>
        <p:spPr>
          <a:xfrm>
            <a:off x="311700" y="1152475"/>
            <a:ext cx="82677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Font typeface="Roboto"/>
              <a:buChar char="●"/>
            </a:pPr>
            <a:r>
              <a:rPr lang="en">
                <a:latin typeface="Roboto"/>
                <a:ea typeface="Roboto"/>
                <a:cs typeface="Roboto"/>
                <a:sym typeface="Roboto"/>
              </a:rPr>
              <a:t>What are the most popular pick-up locations across the city for Citi Bike rental?</a:t>
            </a:r>
            <a:br>
              <a:rPr lang="en">
                <a:latin typeface="Roboto"/>
                <a:ea typeface="Roboto"/>
                <a:cs typeface="Roboto"/>
                <a:sym typeface="Roboto"/>
              </a:rPr>
            </a:br>
            <a:endParaRPr>
              <a:latin typeface="Roboto"/>
              <a:ea typeface="Roboto"/>
              <a:cs typeface="Roboto"/>
              <a:sym typeface="Roboto"/>
            </a:endParaRPr>
          </a:p>
          <a:p>
            <a:pPr indent="-342900" lvl="0" marL="457200" rtl="0" algn="l">
              <a:spcBef>
                <a:spcPts val="0"/>
              </a:spcBef>
              <a:spcAft>
                <a:spcPts val="0"/>
              </a:spcAft>
              <a:buSzPts val="1800"/>
              <a:buFont typeface="Roboto"/>
              <a:buChar char="●"/>
            </a:pPr>
            <a:r>
              <a:rPr lang="en">
                <a:latin typeface="Roboto"/>
                <a:ea typeface="Roboto"/>
                <a:cs typeface="Roboto"/>
                <a:sym typeface="Roboto"/>
              </a:rPr>
              <a:t>How does the average trip duration vary across different age groups?</a:t>
            </a:r>
            <a:br>
              <a:rPr lang="en">
                <a:latin typeface="Roboto"/>
                <a:ea typeface="Roboto"/>
                <a:cs typeface="Roboto"/>
                <a:sym typeface="Roboto"/>
              </a:rPr>
            </a:br>
            <a:endParaRPr>
              <a:latin typeface="Roboto"/>
              <a:ea typeface="Roboto"/>
              <a:cs typeface="Roboto"/>
              <a:sym typeface="Roboto"/>
            </a:endParaRPr>
          </a:p>
          <a:p>
            <a:pPr indent="-342900" lvl="0" marL="457200" rtl="0" algn="l">
              <a:spcBef>
                <a:spcPts val="0"/>
              </a:spcBef>
              <a:spcAft>
                <a:spcPts val="0"/>
              </a:spcAft>
              <a:buSzPts val="1800"/>
              <a:buFont typeface="Roboto"/>
              <a:buChar char="●"/>
            </a:pPr>
            <a:r>
              <a:rPr lang="en">
                <a:latin typeface="Roboto"/>
                <a:ea typeface="Roboto"/>
                <a:cs typeface="Roboto"/>
                <a:sym typeface="Roboto"/>
              </a:rPr>
              <a:t>Which age group rents the most bikes?</a:t>
            </a:r>
            <a:br>
              <a:rPr lang="en">
                <a:latin typeface="Roboto"/>
                <a:ea typeface="Roboto"/>
                <a:cs typeface="Roboto"/>
                <a:sym typeface="Roboto"/>
              </a:rPr>
            </a:br>
            <a:endParaRPr>
              <a:latin typeface="Roboto"/>
              <a:ea typeface="Roboto"/>
              <a:cs typeface="Roboto"/>
              <a:sym typeface="Roboto"/>
            </a:endParaRPr>
          </a:p>
          <a:p>
            <a:pPr indent="-342900" lvl="0" marL="457200" rtl="0" algn="l">
              <a:spcBef>
                <a:spcPts val="0"/>
              </a:spcBef>
              <a:spcAft>
                <a:spcPts val="0"/>
              </a:spcAft>
              <a:buSzPts val="1800"/>
              <a:buFont typeface="Roboto"/>
              <a:buChar char="●"/>
            </a:pPr>
            <a:r>
              <a:rPr lang="en">
                <a:latin typeface="Roboto"/>
                <a:ea typeface="Roboto"/>
                <a:cs typeface="Roboto"/>
                <a:sym typeface="Roboto"/>
              </a:rPr>
              <a:t>How does bike rental vary across the two user groups (one-time users vs long-term subscribers) on different days of the week? </a:t>
            </a:r>
            <a:br>
              <a:rPr lang="en">
                <a:latin typeface="Roboto"/>
                <a:ea typeface="Roboto"/>
                <a:cs typeface="Roboto"/>
                <a:sym typeface="Roboto"/>
              </a:rPr>
            </a:br>
            <a:endParaRPr>
              <a:latin typeface="Roboto"/>
              <a:ea typeface="Roboto"/>
              <a:cs typeface="Roboto"/>
              <a:sym typeface="Roboto"/>
            </a:endParaRPr>
          </a:p>
          <a:p>
            <a:pPr indent="-342900" lvl="0" marL="457200" rtl="0" algn="l">
              <a:spcBef>
                <a:spcPts val="0"/>
              </a:spcBef>
              <a:spcAft>
                <a:spcPts val="0"/>
              </a:spcAft>
              <a:buSzPts val="1800"/>
              <a:buFont typeface="Roboto"/>
              <a:buChar char="●"/>
            </a:pPr>
            <a:r>
              <a:rPr lang="en">
                <a:latin typeface="Roboto"/>
                <a:ea typeface="Roboto"/>
                <a:cs typeface="Roboto"/>
                <a:sym typeface="Roboto"/>
              </a:rPr>
              <a:t>Does the factor of user age impact the average bike trip duration?</a:t>
            </a:r>
            <a:endParaRPr i="1"/>
          </a:p>
          <a:p>
            <a:pPr indent="0" lvl="0" marL="914400" rtl="0" algn="l">
              <a:spcBef>
                <a:spcPts val="0"/>
              </a:spcBef>
              <a:spcAft>
                <a:spcPts val="1200"/>
              </a:spcAft>
              <a:buNone/>
            </a:pPr>
            <a:r>
              <a:t/>
            </a:r>
            <a:endParaRPr i="1"/>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Findings &amp; Insights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388620" lvl="0" marL="457200" rtl="0" algn="l">
              <a:spcBef>
                <a:spcPts val="0"/>
              </a:spcBef>
              <a:spcAft>
                <a:spcPts val="0"/>
              </a:spcAft>
              <a:buSzPct val="100000"/>
              <a:buAutoNum type="arabicPeriod"/>
            </a:pPr>
            <a:r>
              <a:rPr lang="en"/>
              <a:t>What are the most popular Citi Bike pick-up locations?</a:t>
            </a:r>
            <a:endParaRPr/>
          </a:p>
        </p:txBody>
      </p:sp>
      <p:sp>
        <p:nvSpPr>
          <p:cNvPr id="87" name="Google Shape;87;p17"/>
          <p:cNvSpPr txBox="1"/>
          <p:nvPr>
            <p:ph idx="1" type="body"/>
          </p:nvPr>
        </p:nvSpPr>
        <p:spPr>
          <a:xfrm>
            <a:off x="311700" y="1152475"/>
            <a:ext cx="8267700" cy="3416400"/>
          </a:xfrm>
          <a:prstGeom prst="rect">
            <a:avLst/>
          </a:prstGeom>
        </p:spPr>
        <p:txBody>
          <a:bodyPr anchorCtr="0" anchor="t" bIns="91425" lIns="91425" spcFirstLastPara="1" rIns="91425" wrap="square" tIns="91425">
            <a:normAutofit/>
          </a:bodyPr>
          <a:lstStyle/>
          <a:p>
            <a:pPr indent="0" lvl="0" marL="914400" rtl="0" algn="l">
              <a:spcBef>
                <a:spcPts val="0"/>
              </a:spcBef>
              <a:spcAft>
                <a:spcPts val="1200"/>
              </a:spcAft>
              <a:buNone/>
            </a:pPr>
            <a:r>
              <a:t/>
            </a:r>
            <a:endParaRPr i="1"/>
          </a:p>
        </p:txBody>
      </p:sp>
      <p:pic>
        <p:nvPicPr>
          <p:cNvPr id="88" name="Google Shape;88;p17" title="Chart"/>
          <p:cNvPicPr preferRelativeResize="0"/>
          <p:nvPr/>
        </p:nvPicPr>
        <p:blipFill>
          <a:blip r:embed="rId3">
            <a:alphaModFix/>
          </a:blip>
          <a:stretch>
            <a:fillRect/>
          </a:stretch>
        </p:blipFill>
        <p:spPr>
          <a:xfrm>
            <a:off x="956075" y="1152475"/>
            <a:ext cx="5297574" cy="32756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2. How does the average trip duration vary across different age groups?</a:t>
            </a:r>
            <a:endParaRPr/>
          </a:p>
        </p:txBody>
      </p:sp>
      <p:sp>
        <p:nvSpPr>
          <p:cNvPr id="94" name="Google Shape;94;p18"/>
          <p:cNvSpPr txBox="1"/>
          <p:nvPr>
            <p:ph idx="1" type="body"/>
          </p:nvPr>
        </p:nvSpPr>
        <p:spPr>
          <a:xfrm>
            <a:off x="311700" y="1391000"/>
            <a:ext cx="8267700" cy="34164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t/>
            </a:r>
            <a:endParaRPr i="1">
              <a:solidFill>
                <a:srgbClr val="FF0000"/>
              </a:solidFill>
            </a:endParaRPr>
          </a:p>
          <a:p>
            <a:pPr indent="0" lvl="0" marL="457200" rtl="0" algn="l">
              <a:spcBef>
                <a:spcPts val="1200"/>
              </a:spcBef>
              <a:spcAft>
                <a:spcPts val="0"/>
              </a:spcAft>
              <a:buNone/>
            </a:pPr>
            <a:r>
              <a:t/>
            </a:r>
            <a:endParaRPr i="1">
              <a:solidFill>
                <a:srgbClr val="FF0000"/>
              </a:solidFill>
            </a:endParaRPr>
          </a:p>
          <a:p>
            <a:pPr indent="0" lvl="0" marL="457200" rtl="0" algn="l">
              <a:spcBef>
                <a:spcPts val="1200"/>
              </a:spcBef>
              <a:spcAft>
                <a:spcPts val="0"/>
              </a:spcAft>
              <a:buNone/>
            </a:pPr>
            <a:r>
              <a:t/>
            </a:r>
            <a:endParaRPr i="1">
              <a:solidFill>
                <a:srgbClr val="FF0000"/>
              </a:solidFill>
            </a:endParaRPr>
          </a:p>
          <a:p>
            <a:pPr indent="0" lvl="0" marL="457200" rtl="0" algn="l">
              <a:spcBef>
                <a:spcPts val="1200"/>
              </a:spcBef>
              <a:spcAft>
                <a:spcPts val="0"/>
              </a:spcAft>
              <a:buNone/>
            </a:pPr>
            <a:r>
              <a:t/>
            </a:r>
            <a:endParaRPr i="1">
              <a:solidFill>
                <a:srgbClr val="FF0000"/>
              </a:solidFill>
            </a:endParaRPr>
          </a:p>
          <a:p>
            <a:pPr indent="0" lvl="0" marL="457200" rtl="0" algn="l">
              <a:spcBef>
                <a:spcPts val="1200"/>
              </a:spcBef>
              <a:spcAft>
                <a:spcPts val="0"/>
              </a:spcAft>
              <a:buNone/>
            </a:pPr>
            <a:r>
              <a:t/>
            </a:r>
            <a:endParaRPr i="1">
              <a:solidFill>
                <a:srgbClr val="FF0000"/>
              </a:solidFill>
            </a:endParaRPr>
          </a:p>
          <a:p>
            <a:pPr indent="0" lvl="0" marL="914400" rtl="0" algn="l">
              <a:spcBef>
                <a:spcPts val="1200"/>
              </a:spcBef>
              <a:spcAft>
                <a:spcPts val="1200"/>
              </a:spcAft>
              <a:buNone/>
            </a:pPr>
            <a:r>
              <a:rPr i="1" lang="en">
                <a:solidFill>
                  <a:srgbClr val="FF0000"/>
                </a:solidFill>
              </a:rPr>
              <a:t>The Average trip duration of the different age groups where the 65+ age groups has the highest average duration which ranges till 48 mins.</a:t>
            </a:r>
            <a:endParaRPr i="1"/>
          </a:p>
        </p:txBody>
      </p:sp>
      <p:pic>
        <p:nvPicPr>
          <p:cNvPr id="95" name="Google Shape;95;p18" title="Chart"/>
          <p:cNvPicPr preferRelativeResize="0"/>
          <p:nvPr/>
        </p:nvPicPr>
        <p:blipFill>
          <a:blip r:embed="rId3">
            <a:alphaModFix/>
          </a:blip>
          <a:stretch>
            <a:fillRect/>
          </a:stretch>
        </p:blipFill>
        <p:spPr>
          <a:xfrm>
            <a:off x="2146581" y="1391000"/>
            <a:ext cx="3671301" cy="22700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3</a:t>
            </a:r>
            <a:r>
              <a:rPr lang="en"/>
              <a:t>. Which age group rents the most bikes?</a:t>
            </a:r>
            <a:endParaRPr/>
          </a:p>
        </p:txBody>
      </p:sp>
      <p:sp>
        <p:nvSpPr>
          <p:cNvPr id="101" name="Google Shape;101;p19"/>
          <p:cNvSpPr txBox="1"/>
          <p:nvPr>
            <p:ph idx="1" type="body"/>
          </p:nvPr>
        </p:nvSpPr>
        <p:spPr>
          <a:xfrm>
            <a:off x="311700" y="1391000"/>
            <a:ext cx="8267700" cy="3416400"/>
          </a:xfrm>
          <a:prstGeom prst="rect">
            <a:avLst/>
          </a:prstGeom>
        </p:spPr>
        <p:txBody>
          <a:bodyPr anchorCtr="0" anchor="t" bIns="91425" lIns="91425" spcFirstLastPara="1" rIns="91425" wrap="square" tIns="91425">
            <a:normAutofit lnSpcReduction="20000"/>
          </a:bodyPr>
          <a:lstStyle/>
          <a:p>
            <a:pPr indent="0" lvl="0" marL="914400" rtl="0" algn="l">
              <a:spcBef>
                <a:spcPts val="0"/>
              </a:spcBef>
              <a:spcAft>
                <a:spcPts val="0"/>
              </a:spcAft>
              <a:buNone/>
            </a:pPr>
            <a:r>
              <a:t/>
            </a:r>
            <a:endParaRPr i="1">
              <a:solidFill>
                <a:srgbClr val="FF0000"/>
              </a:solidFill>
            </a:endParaRPr>
          </a:p>
          <a:p>
            <a:pPr indent="0" lvl="0" marL="914400" rtl="0" algn="l">
              <a:spcBef>
                <a:spcPts val="1200"/>
              </a:spcBef>
              <a:spcAft>
                <a:spcPts val="0"/>
              </a:spcAft>
              <a:buNone/>
            </a:pPr>
            <a:r>
              <a:t/>
            </a:r>
            <a:endParaRPr i="1">
              <a:solidFill>
                <a:srgbClr val="FF0000"/>
              </a:solidFill>
            </a:endParaRPr>
          </a:p>
          <a:p>
            <a:pPr indent="0" lvl="0" marL="914400" rtl="0" algn="l">
              <a:spcBef>
                <a:spcPts val="1200"/>
              </a:spcBef>
              <a:spcAft>
                <a:spcPts val="0"/>
              </a:spcAft>
              <a:buNone/>
            </a:pPr>
            <a:r>
              <a:t/>
            </a:r>
            <a:endParaRPr i="1">
              <a:solidFill>
                <a:srgbClr val="FF0000"/>
              </a:solidFill>
            </a:endParaRPr>
          </a:p>
          <a:p>
            <a:pPr indent="0" lvl="0" marL="914400" rtl="0" algn="l">
              <a:spcBef>
                <a:spcPts val="1200"/>
              </a:spcBef>
              <a:spcAft>
                <a:spcPts val="0"/>
              </a:spcAft>
              <a:buNone/>
            </a:pPr>
            <a:r>
              <a:t/>
            </a:r>
            <a:endParaRPr i="1">
              <a:solidFill>
                <a:srgbClr val="FF0000"/>
              </a:solidFill>
            </a:endParaRPr>
          </a:p>
          <a:p>
            <a:pPr indent="0" lvl="0" marL="914400" rtl="0" algn="l">
              <a:spcBef>
                <a:spcPts val="1200"/>
              </a:spcBef>
              <a:spcAft>
                <a:spcPts val="0"/>
              </a:spcAft>
              <a:buNone/>
            </a:pPr>
            <a:r>
              <a:t/>
            </a:r>
            <a:endParaRPr i="1">
              <a:solidFill>
                <a:srgbClr val="FF0000"/>
              </a:solidFill>
            </a:endParaRPr>
          </a:p>
          <a:p>
            <a:pPr indent="0" lvl="0" marL="914400" rtl="0" algn="l">
              <a:spcBef>
                <a:spcPts val="1200"/>
              </a:spcBef>
              <a:spcAft>
                <a:spcPts val="0"/>
              </a:spcAft>
              <a:buNone/>
            </a:pPr>
            <a:r>
              <a:t/>
            </a:r>
            <a:endParaRPr i="1">
              <a:solidFill>
                <a:srgbClr val="FF0000"/>
              </a:solidFill>
            </a:endParaRPr>
          </a:p>
          <a:p>
            <a:pPr indent="0" lvl="0" marL="0" rtl="0" algn="l">
              <a:spcBef>
                <a:spcPts val="1200"/>
              </a:spcBef>
              <a:spcAft>
                <a:spcPts val="1200"/>
              </a:spcAft>
              <a:buNone/>
            </a:pPr>
            <a:r>
              <a:rPr lang="en" sz="1574">
                <a:solidFill>
                  <a:srgbClr val="FF0000"/>
                </a:solidFill>
              </a:rPr>
              <a:t>The age group between 35-44 rents the bike mostly compared to the other </a:t>
            </a:r>
            <a:r>
              <a:rPr lang="en" sz="1574">
                <a:solidFill>
                  <a:srgbClr val="FF0000"/>
                </a:solidFill>
              </a:rPr>
              <a:t>groups</a:t>
            </a:r>
            <a:r>
              <a:rPr lang="en" sz="1574">
                <a:solidFill>
                  <a:srgbClr val="FF0000"/>
                </a:solidFill>
              </a:rPr>
              <a:t> followed by 25-34 age groups. The highest number ranges around 7600 and the least </a:t>
            </a:r>
            <a:r>
              <a:rPr lang="en" sz="1574">
                <a:solidFill>
                  <a:srgbClr val="FF0000"/>
                </a:solidFill>
              </a:rPr>
              <a:t>number</a:t>
            </a:r>
            <a:r>
              <a:rPr lang="en" sz="1574">
                <a:solidFill>
                  <a:srgbClr val="FF0000"/>
                </a:solidFill>
              </a:rPr>
              <a:t> is 50-100 for age groups for 18-24 and 75+.</a:t>
            </a:r>
            <a:endParaRPr sz="1574">
              <a:solidFill>
                <a:srgbClr val="FF0000"/>
              </a:solidFill>
            </a:endParaRPr>
          </a:p>
        </p:txBody>
      </p:sp>
      <p:pic>
        <p:nvPicPr>
          <p:cNvPr id="102" name="Google Shape;102;p19" title="Chart"/>
          <p:cNvPicPr preferRelativeResize="0"/>
          <p:nvPr/>
        </p:nvPicPr>
        <p:blipFill>
          <a:blip r:embed="rId3">
            <a:alphaModFix/>
          </a:blip>
          <a:stretch>
            <a:fillRect/>
          </a:stretch>
        </p:blipFill>
        <p:spPr>
          <a:xfrm>
            <a:off x="2183087" y="1017724"/>
            <a:ext cx="4524924" cy="2797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4</a:t>
            </a:r>
            <a:r>
              <a:rPr lang="en"/>
              <a:t>. </a:t>
            </a:r>
            <a:r>
              <a:rPr lang="en" sz="2700">
                <a:latin typeface="Oswald"/>
                <a:ea typeface="Oswald"/>
                <a:cs typeface="Oswald"/>
                <a:sym typeface="Oswald"/>
              </a:rPr>
              <a:t>How does bike rental vary across the two user groups (one-time users vs long-term subscribers) on different days of the week? </a:t>
            </a:r>
            <a:endParaRPr sz="2700"/>
          </a:p>
        </p:txBody>
      </p:sp>
      <p:sp>
        <p:nvSpPr>
          <p:cNvPr id="108" name="Google Shape;108;p20"/>
          <p:cNvSpPr txBox="1"/>
          <p:nvPr>
            <p:ph idx="1" type="body"/>
          </p:nvPr>
        </p:nvSpPr>
        <p:spPr>
          <a:xfrm>
            <a:off x="311700" y="1391000"/>
            <a:ext cx="8267700" cy="3416400"/>
          </a:xfrm>
          <a:prstGeom prst="rect">
            <a:avLst/>
          </a:prstGeom>
        </p:spPr>
        <p:txBody>
          <a:bodyPr anchorCtr="0" anchor="t" bIns="91425" lIns="91425" spcFirstLastPara="1" rIns="91425" wrap="square" tIns="91425">
            <a:normAutofit lnSpcReduction="10000"/>
          </a:bodyPr>
          <a:lstStyle/>
          <a:p>
            <a:pPr indent="0" lvl="0" marL="457200" rtl="0" algn="l">
              <a:spcBef>
                <a:spcPts val="0"/>
              </a:spcBef>
              <a:spcAft>
                <a:spcPts val="0"/>
              </a:spcAft>
              <a:buNone/>
            </a:pPr>
            <a:r>
              <a:t/>
            </a:r>
            <a:endParaRPr i="1">
              <a:solidFill>
                <a:srgbClr val="FF0000"/>
              </a:solidFill>
            </a:endParaRPr>
          </a:p>
          <a:p>
            <a:pPr indent="0" lvl="0" marL="457200" rtl="0" algn="l">
              <a:spcBef>
                <a:spcPts val="1200"/>
              </a:spcBef>
              <a:spcAft>
                <a:spcPts val="0"/>
              </a:spcAft>
              <a:buNone/>
            </a:pPr>
            <a:r>
              <a:t/>
            </a:r>
            <a:endParaRPr i="1">
              <a:solidFill>
                <a:srgbClr val="FF0000"/>
              </a:solidFill>
            </a:endParaRPr>
          </a:p>
          <a:p>
            <a:pPr indent="0" lvl="0" marL="457200" rtl="0" algn="l">
              <a:spcBef>
                <a:spcPts val="1200"/>
              </a:spcBef>
              <a:spcAft>
                <a:spcPts val="0"/>
              </a:spcAft>
              <a:buNone/>
            </a:pPr>
            <a:r>
              <a:t/>
            </a:r>
            <a:endParaRPr i="1">
              <a:solidFill>
                <a:srgbClr val="FF0000"/>
              </a:solidFill>
            </a:endParaRPr>
          </a:p>
          <a:p>
            <a:pPr indent="0" lvl="0" marL="457200" rtl="0" algn="l">
              <a:spcBef>
                <a:spcPts val="1200"/>
              </a:spcBef>
              <a:spcAft>
                <a:spcPts val="0"/>
              </a:spcAft>
              <a:buNone/>
            </a:pPr>
            <a:r>
              <a:t/>
            </a:r>
            <a:endParaRPr i="1">
              <a:solidFill>
                <a:srgbClr val="FF0000"/>
              </a:solidFill>
            </a:endParaRPr>
          </a:p>
          <a:p>
            <a:pPr indent="0" lvl="0" marL="457200" rtl="0" algn="l">
              <a:spcBef>
                <a:spcPts val="1200"/>
              </a:spcBef>
              <a:spcAft>
                <a:spcPts val="0"/>
              </a:spcAft>
              <a:buNone/>
            </a:pPr>
            <a:r>
              <a:t/>
            </a:r>
            <a:endParaRPr i="1">
              <a:solidFill>
                <a:srgbClr val="FF0000"/>
              </a:solidFill>
            </a:endParaRPr>
          </a:p>
          <a:p>
            <a:pPr indent="0" lvl="0" marL="0" rtl="0" algn="l">
              <a:spcBef>
                <a:spcPts val="1200"/>
              </a:spcBef>
              <a:spcAft>
                <a:spcPts val="0"/>
              </a:spcAft>
              <a:buNone/>
            </a:pPr>
            <a:r>
              <a:rPr i="1" lang="en">
                <a:solidFill>
                  <a:srgbClr val="FF0000"/>
                </a:solidFill>
              </a:rPr>
              <a:t>              </a:t>
            </a:r>
            <a:endParaRPr i="1">
              <a:solidFill>
                <a:srgbClr val="FF0000"/>
              </a:solidFill>
            </a:endParaRPr>
          </a:p>
          <a:p>
            <a:pPr indent="0" lvl="0" marL="0" rtl="0" algn="l">
              <a:spcBef>
                <a:spcPts val="1200"/>
              </a:spcBef>
              <a:spcAft>
                <a:spcPts val="1200"/>
              </a:spcAft>
              <a:buNone/>
            </a:pPr>
            <a:r>
              <a:rPr i="1" lang="en">
                <a:solidFill>
                  <a:srgbClr val="FF0000"/>
                </a:solidFill>
              </a:rPr>
              <a:t>The subscribers are more in number compared to one-time user and the one-time users usually rents the bike during weekends.</a:t>
            </a:r>
            <a:endParaRPr i="1"/>
          </a:p>
        </p:txBody>
      </p:sp>
      <p:pic>
        <p:nvPicPr>
          <p:cNvPr id="109" name="Google Shape;109;p20" title="Chart"/>
          <p:cNvPicPr preferRelativeResize="0"/>
          <p:nvPr/>
        </p:nvPicPr>
        <p:blipFill>
          <a:blip r:embed="rId3">
            <a:alphaModFix/>
          </a:blip>
          <a:stretch>
            <a:fillRect/>
          </a:stretch>
        </p:blipFill>
        <p:spPr>
          <a:xfrm>
            <a:off x="2019455" y="1344250"/>
            <a:ext cx="4269474" cy="26399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5</a:t>
            </a:r>
            <a:r>
              <a:rPr lang="en"/>
              <a:t>. </a:t>
            </a:r>
            <a:r>
              <a:rPr lang="en" sz="2700">
                <a:latin typeface="Oswald"/>
                <a:ea typeface="Oswald"/>
                <a:cs typeface="Oswald"/>
                <a:sym typeface="Oswald"/>
              </a:rPr>
              <a:t>Do factors like weather and age impact the average bike trip duration?</a:t>
            </a:r>
            <a:r>
              <a:rPr lang="en" sz="2700">
                <a:latin typeface="Oswald"/>
                <a:ea typeface="Oswald"/>
                <a:cs typeface="Oswald"/>
                <a:sym typeface="Oswald"/>
              </a:rPr>
              <a:t> </a:t>
            </a:r>
            <a:endParaRPr sz="2700"/>
          </a:p>
        </p:txBody>
      </p:sp>
      <p:sp>
        <p:nvSpPr>
          <p:cNvPr id="115" name="Google Shape;115;p21"/>
          <p:cNvSpPr txBox="1"/>
          <p:nvPr>
            <p:ph idx="1" type="body"/>
          </p:nvPr>
        </p:nvSpPr>
        <p:spPr>
          <a:xfrm>
            <a:off x="311700" y="1391000"/>
            <a:ext cx="8267700" cy="3416400"/>
          </a:xfrm>
          <a:prstGeom prst="rect">
            <a:avLst/>
          </a:prstGeom>
        </p:spPr>
        <p:txBody>
          <a:bodyPr anchorCtr="0" anchor="t" bIns="91425" lIns="91425" spcFirstLastPara="1" rIns="91425" wrap="square" tIns="91425">
            <a:normAutofit/>
          </a:bodyPr>
          <a:lstStyle/>
          <a:p>
            <a:pPr indent="0" lvl="0" marL="914400" rtl="0" algn="l">
              <a:spcBef>
                <a:spcPts val="0"/>
              </a:spcBef>
              <a:spcAft>
                <a:spcPts val="0"/>
              </a:spcAft>
              <a:buNone/>
            </a:pPr>
            <a:r>
              <a:t/>
            </a:r>
            <a:endParaRPr i="1">
              <a:solidFill>
                <a:srgbClr val="FF0000"/>
              </a:solidFill>
            </a:endParaRPr>
          </a:p>
          <a:p>
            <a:pPr indent="0" lvl="0" marL="914400" rtl="0" algn="l">
              <a:spcBef>
                <a:spcPts val="1200"/>
              </a:spcBef>
              <a:spcAft>
                <a:spcPts val="0"/>
              </a:spcAft>
              <a:buNone/>
            </a:pPr>
            <a:r>
              <a:t/>
            </a:r>
            <a:endParaRPr i="1">
              <a:solidFill>
                <a:srgbClr val="FF0000"/>
              </a:solidFill>
            </a:endParaRPr>
          </a:p>
          <a:p>
            <a:pPr indent="0" lvl="0" marL="914400" rtl="0" algn="l">
              <a:spcBef>
                <a:spcPts val="1200"/>
              </a:spcBef>
              <a:spcAft>
                <a:spcPts val="0"/>
              </a:spcAft>
              <a:buNone/>
            </a:pPr>
            <a:r>
              <a:t/>
            </a:r>
            <a:endParaRPr i="1">
              <a:solidFill>
                <a:srgbClr val="FF0000"/>
              </a:solidFill>
            </a:endParaRPr>
          </a:p>
          <a:p>
            <a:pPr indent="0" lvl="0" marL="914400" rtl="0" algn="l">
              <a:spcBef>
                <a:spcPts val="1200"/>
              </a:spcBef>
              <a:spcAft>
                <a:spcPts val="0"/>
              </a:spcAft>
              <a:buNone/>
            </a:pPr>
            <a:r>
              <a:t/>
            </a:r>
            <a:endParaRPr i="1">
              <a:solidFill>
                <a:srgbClr val="FF0000"/>
              </a:solidFill>
            </a:endParaRPr>
          </a:p>
          <a:p>
            <a:pPr indent="0" lvl="0" marL="914400" rtl="0" algn="l">
              <a:spcBef>
                <a:spcPts val="1200"/>
              </a:spcBef>
              <a:spcAft>
                <a:spcPts val="0"/>
              </a:spcAft>
              <a:buNone/>
            </a:pPr>
            <a:r>
              <a:t/>
            </a:r>
            <a:endParaRPr i="1">
              <a:solidFill>
                <a:srgbClr val="FF0000"/>
              </a:solidFill>
            </a:endParaRPr>
          </a:p>
          <a:p>
            <a:pPr indent="0" lvl="0" marL="914400" rtl="0" algn="l">
              <a:spcBef>
                <a:spcPts val="1200"/>
              </a:spcBef>
              <a:spcAft>
                <a:spcPts val="1200"/>
              </a:spcAft>
              <a:buNone/>
            </a:pPr>
            <a:r>
              <a:rPr i="1" lang="en">
                <a:solidFill>
                  <a:srgbClr val="FF0000"/>
                </a:solidFill>
              </a:rPr>
              <a:t>The average age duration does not impact the trip duration but the weather does impact</a:t>
            </a:r>
            <a:endParaRPr i="1">
              <a:solidFill>
                <a:srgbClr val="FF0000"/>
              </a:solidFill>
            </a:endParaRPr>
          </a:p>
        </p:txBody>
      </p:sp>
      <p:pic>
        <p:nvPicPr>
          <p:cNvPr id="116" name="Google Shape;116;p21" title="Chart"/>
          <p:cNvPicPr preferRelativeResize="0"/>
          <p:nvPr/>
        </p:nvPicPr>
        <p:blipFill>
          <a:blip r:embed="rId3">
            <a:alphaModFix/>
          </a:blip>
          <a:stretch>
            <a:fillRect/>
          </a:stretch>
        </p:blipFill>
        <p:spPr>
          <a:xfrm>
            <a:off x="505281" y="1074925"/>
            <a:ext cx="3764775" cy="2327875"/>
          </a:xfrm>
          <a:prstGeom prst="rect">
            <a:avLst/>
          </a:prstGeom>
          <a:noFill/>
          <a:ln>
            <a:noFill/>
          </a:ln>
        </p:spPr>
      </p:pic>
      <p:pic>
        <p:nvPicPr>
          <p:cNvPr id="117" name="Google Shape;117;p21" title="Chart"/>
          <p:cNvPicPr preferRelativeResize="0"/>
          <p:nvPr/>
        </p:nvPicPr>
        <p:blipFill>
          <a:blip r:embed="rId4">
            <a:alphaModFix/>
          </a:blip>
          <a:stretch>
            <a:fillRect/>
          </a:stretch>
        </p:blipFill>
        <p:spPr>
          <a:xfrm>
            <a:off x="4654775" y="1074925"/>
            <a:ext cx="3981675" cy="23278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2"/>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Summary </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sz="3155">
                <a:latin typeface="Arial"/>
                <a:ea typeface="Arial"/>
                <a:cs typeface="Arial"/>
                <a:sym typeface="Arial"/>
              </a:rPr>
              <a:t>The most popular pickup location:Grove St Path</a:t>
            </a:r>
            <a:endParaRPr sz="3155">
              <a:latin typeface="Arial"/>
              <a:ea typeface="Arial"/>
              <a:cs typeface="Arial"/>
              <a:sym typeface="Arial"/>
            </a:endParaRPr>
          </a:p>
          <a:p>
            <a:pPr indent="0" lvl="0" marL="0" rtl="0" algn="ctr">
              <a:spcBef>
                <a:spcPts val="0"/>
              </a:spcBef>
              <a:spcAft>
                <a:spcPts val="0"/>
              </a:spcAft>
              <a:buNone/>
            </a:pPr>
            <a:r>
              <a:rPr lang="en" sz="3155">
                <a:latin typeface="Arial"/>
                <a:ea typeface="Arial"/>
                <a:cs typeface="Arial"/>
                <a:sym typeface="Arial"/>
              </a:rPr>
              <a:t>The Age group who rents most: 35-44</a:t>
            </a:r>
            <a:endParaRPr sz="3155">
              <a:latin typeface="Arial"/>
              <a:ea typeface="Arial"/>
              <a:cs typeface="Arial"/>
              <a:sym typeface="Arial"/>
            </a:endParaRPr>
          </a:p>
          <a:p>
            <a:pPr indent="0" lvl="0" marL="0" rtl="0" algn="ctr">
              <a:spcBef>
                <a:spcPts val="0"/>
              </a:spcBef>
              <a:spcAft>
                <a:spcPts val="0"/>
              </a:spcAft>
              <a:buClr>
                <a:schemeClr val="dk1"/>
              </a:buClr>
              <a:buSzPct val="34859"/>
              <a:buFont typeface="Arial"/>
              <a:buNone/>
            </a:pPr>
            <a:r>
              <a:rPr lang="en" sz="3155">
                <a:latin typeface="Arial"/>
                <a:ea typeface="Arial"/>
                <a:cs typeface="Arial"/>
                <a:sym typeface="Arial"/>
              </a:rPr>
              <a:t>The Age groups who rents the least: 65+</a:t>
            </a:r>
            <a:endParaRPr sz="3155">
              <a:latin typeface="Arial"/>
              <a:ea typeface="Arial"/>
              <a:cs typeface="Arial"/>
              <a:sym typeface="Arial"/>
            </a:endParaRPr>
          </a:p>
          <a:p>
            <a:pPr indent="0" lvl="0" marL="0" rtl="0" algn="ctr">
              <a:spcBef>
                <a:spcPts val="0"/>
              </a:spcBef>
              <a:spcAft>
                <a:spcPts val="0"/>
              </a:spcAft>
              <a:buNone/>
            </a:pPr>
            <a:r>
              <a:rPr lang="en" sz="3155">
                <a:latin typeface="Arial"/>
                <a:ea typeface="Arial"/>
                <a:cs typeface="Arial"/>
                <a:sym typeface="Arial"/>
              </a:rPr>
              <a:t>It has more users who are subscribed.</a:t>
            </a:r>
            <a:endParaRPr sz="3155">
              <a:latin typeface="Arial"/>
              <a:ea typeface="Arial"/>
              <a:cs typeface="Arial"/>
              <a:sym typeface="Arial"/>
            </a:endParaRPr>
          </a:p>
          <a:p>
            <a:pPr indent="0" lvl="0" marL="0" rtl="0" algn="ctr">
              <a:spcBef>
                <a:spcPts val="0"/>
              </a:spcBef>
              <a:spcAft>
                <a:spcPts val="0"/>
              </a:spcAft>
              <a:buNone/>
            </a:pPr>
            <a:r>
              <a:t/>
            </a:r>
            <a:endParaRPr sz="3155">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 of findings:</a:t>
            </a:r>
            <a:endParaRPr sz="2700"/>
          </a:p>
        </p:txBody>
      </p:sp>
      <p:sp>
        <p:nvSpPr>
          <p:cNvPr id="128" name="Google Shape;128;p23"/>
          <p:cNvSpPr txBox="1"/>
          <p:nvPr/>
        </p:nvSpPr>
        <p:spPr>
          <a:xfrm>
            <a:off x="311700" y="1152475"/>
            <a:ext cx="8267700" cy="3416400"/>
          </a:xfrm>
          <a:prstGeom prst="rect">
            <a:avLst/>
          </a:prstGeom>
          <a:noFill/>
          <a:ln>
            <a:noFill/>
          </a:ln>
        </p:spPr>
        <p:txBody>
          <a:bodyPr anchorCtr="0" anchor="t" bIns="91425" lIns="91425" spcFirstLastPara="1" rIns="91425" wrap="square" tIns="91425">
            <a:normAutofit fontScale="70000" lnSpcReduction="20000"/>
          </a:bodyPr>
          <a:lstStyle/>
          <a:p>
            <a:pPr indent="-308610" lvl="0" marL="457200" rtl="0" algn="l">
              <a:lnSpc>
                <a:spcPct val="115000"/>
              </a:lnSpc>
              <a:spcBef>
                <a:spcPts val="0"/>
              </a:spcBef>
              <a:spcAft>
                <a:spcPts val="0"/>
              </a:spcAft>
              <a:buClr>
                <a:srgbClr val="000000"/>
              </a:buClr>
              <a:buSzPct val="93864"/>
              <a:buFont typeface="Roboto Light"/>
              <a:buChar char="●"/>
            </a:pPr>
            <a:r>
              <a:rPr b="1" i="1" lang="en" sz="1917">
                <a:solidFill>
                  <a:srgbClr val="000000"/>
                </a:solidFill>
                <a:latin typeface="Roboto"/>
                <a:ea typeface="Roboto"/>
                <a:cs typeface="Roboto"/>
                <a:sym typeface="Roboto"/>
              </a:rPr>
              <a:t>Top 5 pick-up locations for bikes:</a:t>
            </a:r>
            <a:r>
              <a:rPr i="1" lang="en" sz="1917">
                <a:solidFill>
                  <a:srgbClr val="000000"/>
                </a:solidFill>
                <a:latin typeface="Roboto Light"/>
                <a:ea typeface="Roboto Light"/>
                <a:cs typeface="Roboto Light"/>
                <a:sym typeface="Roboto Light"/>
              </a:rPr>
              <a:t> </a:t>
            </a:r>
            <a:br>
              <a:rPr i="1" lang="en" sz="1800">
                <a:solidFill>
                  <a:srgbClr val="000000"/>
                </a:solidFill>
                <a:latin typeface="Roboto Light"/>
                <a:ea typeface="Roboto Light"/>
                <a:cs typeface="Roboto Light"/>
                <a:sym typeface="Roboto Light"/>
              </a:rPr>
            </a:br>
            <a:endParaRPr i="1" sz="1800">
              <a:solidFill>
                <a:srgbClr val="000000"/>
              </a:solidFill>
              <a:latin typeface="Roboto Light"/>
              <a:ea typeface="Roboto Light"/>
              <a:cs typeface="Roboto Light"/>
              <a:sym typeface="Roboto Light"/>
            </a:endParaRPr>
          </a:p>
          <a:p>
            <a:pPr indent="-290830" lvl="1" marL="914400" rtl="0" algn="l">
              <a:lnSpc>
                <a:spcPct val="115000"/>
              </a:lnSpc>
              <a:spcBef>
                <a:spcPts val="0"/>
              </a:spcBef>
              <a:spcAft>
                <a:spcPts val="0"/>
              </a:spcAft>
              <a:buClr>
                <a:srgbClr val="000000"/>
              </a:buClr>
              <a:buSzPct val="84436"/>
              <a:buFont typeface="Roboto Light"/>
              <a:buChar char="○"/>
            </a:pPr>
            <a:r>
              <a:rPr i="1" lang="en" sz="1658">
                <a:latin typeface="Roboto Light"/>
                <a:ea typeface="Roboto Light"/>
                <a:cs typeface="Roboto Light"/>
                <a:sym typeface="Roboto Light"/>
              </a:rPr>
              <a:t>Grove St Path, Exchange Place, Sip Ave, Hamilton Park, &amp; Morris Canal</a:t>
            </a:r>
            <a:br>
              <a:rPr i="1" lang="en">
                <a:solidFill>
                  <a:srgbClr val="000000"/>
                </a:solidFill>
                <a:latin typeface="Roboto Light"/>
                <a:ea typeface="Roboto Light"/>
                <a:cs typeface="Roboto Light"/>
                <a:sym typeface="Roboto Light"/>
              </a:rPr>
            </a:br>
            <a:endParaRPr i="1">
              <a:solidFill>
                <a:srgbClr val="000000"/>
              </a:solidFill>
              <a:latin typeface="Roboto Light"/>
              <a:ea typeface="Roboto Light"/>
              <a:cs typeface="Roboto Light"/>
              <a:sym typeface="Roboto Light"/>
            </a:endParaRPr>
          </a:p>
          <a:p>
            <a:pPr indent="-308610" lvl="0" marL="457200" rtl="0" algn="l">
              <a:lnSpc>
                <a:spcPct val="115000"/>
              </a:lnSpc>
              <a:spcBef>
                <a:spcPts val="0"/>
              </a:spcBef>
              <a:spcAft>
                <a:spcPts val="0"/>
              </a:spcAft>
              <a:buClr>
                <a:srgbClr val="000000"/>
              </a:buClr>
              <a:buSzPct val="93311"/>
              <a:buFont typeface="Roboto Light"/>
              <a:buChar char="●"/>
            </a:pPr>
            <a:r>
              <a:rPr b="1" i="1" lang="en" sz="1929">
                <a:solidFill>
                  <a:srgbClr val="000000"/>
                </a:solidFill>
                <a:latin typeface="Roboto"/>
                <a:ea typeface="Roboto"/>
                <a:cs typeface="Roboto"/>
                <a:sym typeface="Roboto"/>
              </a:rPr>
              <a:t>Customer base: </a:t>
            </a:r>
            <a:br>
              <a:rPr b="1" i="1" lang="en" sz="1800">
                <a:solidFill>
                  <a:srgbClr val="000000"/>
                </a:solidFill>
                <a:latin typeface="Roboto"/>
                <a:ea typeface="Roboto"/>
                <a:cs typeface="Roboto"/>
                <a:sym typeface="Roboto"/>
              </a:rPr>
            </a:br>
            <a:endParaRPr b="1" i="1" sz="1800">
              <a:solidFill>
                <a:srgbClr val="000000"/>
              </a:solidFill>
              <a:latin typeface="Roboto"/>
              <a:ea typeface="Roboto"/>
              <a:cs typeface="Roboto"/>
              <a:sym typeface="Roboto"/>
            </a:endParaRPr>
          </a:p>
          <a:p>
            <a:pPr indent="-304165" lvl="1" marL="914400" rtl="0" algn="l">
              <a:lnSpc>
                <a:spcPct val="115000"/>
              </a:lnSpc>
              <a:spcBef>
                <a:spcPts val="0"/>
              </a:spcBef>
              <a:spcAft>
                <a:spcPts val="0"/>
              </a:spcAft>
              <a:buClr>
                <a:srgbClr val="000000"/>
              </a:buClr>
              <a:buSzPct val="100000"/>
              <a:buFont typeface="Roboto Light"/>
              <a:buChar char="○"/>
            </a:pPr>
            <a:r>
              <a:rPr i="1" lang="en" sz="1700">
                <a:latin typeface="Roboto Light"/>
                <a:ea typeface="Roboto Light"/>
                <a:cs typeface="Roboto Light"/>
                <a:sym typeface="Roboto Light"/>
              </a:rPr>
              <a:t>The CitiBike has a wide range of customers ranging from 18 to 65 age groups but the most who rents the bike are the age groups who are at their midage and are the main person who in general may earn bread.</a:t>
            </a:r>
            <a:endParaRPr i="1" sz="1700">
              <a:latin typeface="Roboto Light"/>
              <a:ea typeface="Roboto Light"/>
              <a:cs typeface="Roboto Light"/>
              <a:sym typeface="Roboto Light"/>
            </a:endParaRPr>
          </a:p>
          <a:p>
            <a:pPr indent="-304165" lvl="1" marL="914400" rtl="0" algn="l">
              <a:lnSpc>
                <a:spcPct val="115000"/>
              </a:lnSpc>
              <a:spcBef>
                <a:spcPts val="0"/>
              </a:spcBef>
              <a:spcAft>
                <a:spcPts val="0"/>
              </a:spcAft>
              <a:buClr>
                <a:srgbClr val="000000"/>
              </a:buClr>
              <a:buSzPct val="100000"/>
              <a:buFont typeface="Roboto Light"/>
              <a:buChar char="○"/>
            </a:pPr>
            <a:r>
              <a:rPr i="1" lang="en" sz="1700">
                <a:latin typeface="Roboto Light"/>
                <a:ea typeface="Roboto Light"/>
                <a:cs typeface="Roboto Light"/>
                <a:sym typeface="Roboto Light"/>
              </a:rPr>
              <a:t>The lowest number can be seen during the age groups of 18-24 and 65+ leasts rents the bike.</a:t>
            </a:r>
            <a:endParaRPr i="1" sz="1700">
              <a:latin typeface="Roboto Light"/>
              <a:ea typeface="Roboto Light"/>
              <a:cs typeface="Roboto Light"/>
              <a:sym typeface="Roboto Light"/>
            </a:endParaRPr>
          </a:p>
          <a:p>
            <a:pPr indent="-302300" lvl="1" marL="914400" rtl="0" algn="l">
              <a:lnSpc>
                <a:spcPct val="115000"/>
              </a:lnSpc>
              <a:spcBef>
                <a:spcPts val="0"/>
              </a:spcBef>
              <a:spcAft>
                <a:spcPts val="0"/>
              </a:spcAft>
              <a:buClr>
                <a:srgbClr val="000000"/>
              </a:buClr>
              <a:buSzPct val="97532"/>
              <a:buFont typeface="Roboto Light"/>
              <a:buChar char="○"/>
            </a:pPr>
            <a:r>
              <a:rPr i="1" lang="en" sz="1700">
                <a:latin typeface="Roboto Light"/>
                <a:ea typeface="Roboto Light"/>
                <a:cs typeface="Roboto Light"/>
                <a:sym typeface="Roboto Light"/>
              </a:rPr>
              <a:t>It can be also observed that the subscriber are the highest in number and who rents the bike during weekdays, from which it can be made out that they may use that the bike for official use.</a:t>
            </a:r>
            <a:br>
              <a:rPr i="1" lang="en">
                <a:solidFill>
                  <a:srgbClr val="000000"/>
                </a:solidFill>
                <a:latin typeface="Roboto Light"/>
                <a:ea typeface="Roboto Light"/>
                <a:cs typeface="Roboto Light"/>
                <a:sym typeface="Roboto Light"/>
              </a:rPr>
            </a:br>
            <a:endParaRPr i="1">
              <a:solidFill>
                <a:srgbClr val="000000"/>
              </a:solidFill>
              <a:latin typeface="Roboto Light"/>
              <a:ea typeface="Roboto Light"/>
              <a:cs typeface="Roboto Light"/>
              <a:sym typeface="Roboto Light"/>
            </a:endParaRPr>
          </a:p>
          <a:p>
            <a:pPr indent="-314345" lvl="0" marL="457200" rtl="0" algn="l">
              <a:lnSpc>
                <a:spcPct val="115000"/>
              </a:lnSpc>
              <a:spcBef>
                <a:spcPts val="0"/>
              </a:spcBef>
              <a:spcAft>
                <a:spcPts val="0"/>
              </a:spcAft>
              <a:buClr>
                <a:srgbClr val="000000"/>
              </a:buClr>
              <a:buSzPct val="100000"/>
              <a:buFont typeface="Roboto Light"/>
              <a:buChar char="●"/>
            </a:pPr>
            <a:r>
              <a:rPr i="1" lang="en" sz="1929">
                <a:solidFill>
                  <a:srgbClr val="000000"/>
                </a:solidFill>
                <a:latin typeface="Roboto Light"/>
                <a:ea typeface="Roboto Light"/>
                <a:cs typeface="Roboto Light"/>
                <a:sym typeface="Roboto Light"/>
              </a:rPr>
              <a:t> </a:t>
            </a:r>
            <a:r>
              <a:rPr b="1" i="1" lang="en" sz="1929">
                <a:solidFill>
                  <a:srgbClr val="000000"/>
                </a:solidFill>
                <a:latin typeface="Roboto"/>
                <a:ea typeface="Roboto"/>
                <a:cs typeface="Roboto"/>
                <a:sym typeface="Roboto"/>
              </a:rPr>
              <a:t>Citi Bike customer behavior:</a:t>
            </a:r>
            <a:br>
              <a:rPr b="1" i="1" lang="en" sz="1929">
                <a:solidFill>
                  <a:srgbClr val="000000"/>
                </a:solidFill>
                <a:latin typeface="Roboto"/>
                <a:ea typeface="Roboto"/>
                <a:cs typeface="Roboto"/>
                <a:sym typeface="Roboto"/>
              </a:rPr>
            </a:br>
            <a:endParaRPr b="1" i="1" sz="1929">
              <a:solidFill>
                <a:srgbClr val="000000"/>
              </a:solidFill>
              <a:latin typeface="Roboto"/>
              <a:ea typeface="Roboto"/>
              <a:cs typeface="Roboto"/>
              <a:sym typeface="Roboto"/>
            </a:endParaRPr>
          </a:p>
          <a:p>
            <a:pPr indent="-302300" lvl="1" marL="914400" rtl="0" algn="l">
              <a:lnSpc>
                <a:spcPct val="115000"/>
              </a:lnSpc>
              <a:spcBef>
                <a:spcPts val="0"/>
              </a:spcBef>
              <a:spcAft>
                <a:spcPts val="0"/>
              </a:spcAft>
              <a:buClr>
                <a:srgbClr val="000000"/>
              </a:buClr>
              <a:buSzPct val="100000"/>
              <a:buFont typeface="Roboto Light"/>
              <a:buChar char="○"/>
            </a:pPr>
            <a:r>
              <a:rPr i="1" lang="en" sz="1658">
                <a:latin typeface="Roboto Light"/>
                <a:ea typeface="Roboto Light"/>
                <a:cs typeface="Roboto Light"/>
                <a:sym typeface="Roboto Light"/>
              </a:rPr>
              <a:t>The age groups above 65+ are the mostly to have more average trip duration followed by the age groups 18-24.</a:t>
            </a:r>
            <a:endParaRPr i="1" sz="1658">
              <a:latin typeface="Roboto Light"/>
              <a:ea typeface="Roboto Light"/>
              <a:cs typeface="Roboto Light"/>
              <a:sym typeface="Roboto Light"/>
            </a:endParaRPr>
          </a:p>
          <a:p>
            <a:pPr indent="-302300" lvl="1" marL="914400" rtl="0" algn="l">
              <a:lnSpc>
                <a:spcPct val="115000"/>
              </a:lnSpc>
              <a:spcBef>
                <a:spcPts val="0"/>
              </a:spcBef>
              <a:spcAft>
                <a:spcPts val="0"/>
              </a:spcAft>
              <a:buClr>
                <a:srgbClr val="000000"/>
              </a:buClr>
              <a:buSzPct val="100000"/>
              <a:buFont typeface="Roboto Light"/>
              <a:buChar char="○"/>
            </a:pPr>
            <a:r>
              <a:rPr i="1" lang="en" sz="1658">
                <a:latin typeface="Roboto Light"/>
                <a:ea typeface="Roboto Light"/>
                <a:cs typeface="Roboto Light"/>
                <a:sym typeface="Roboto Light"/>
              </a:rPr>
              <a:t>But the age groups 34-44 are the ones who rents the car at most.</a:t>
            </a:r>
            <a:endParaRPr i="1" sz="1658">
              <a:latin typeface="Roboto Light"/>
              <a:ea typeface="Roboto Light"/>
              <a:cs typeface="Roboto Light"/>
              <a:sym typeface="Roboto Light"/>
            </a:endParaRPr>
          </a:p>
          <a:p>
            <a:pPr indent="0" lvl="0" marL="0" rtl="0" algn="l">
              <a:lnSpc>
                <a:spcPct val="115000"/>
              </a:lnSpc>
              <a:spcBef>
                <a:spcPts val="1200"/>
              </a:spcBef>
              <a:spcAft>
                <a:spcPts val="1200"/>
              </a:spcAft>
              <a:buNone/>
            </a:pPr>
            <a:r>
              <a:t/>
            </a:r>
            <a:endParaRPr sz="1800">
              <a:solidFill>
                <a:srgbClr val="000000"/>
              </a:solidFill>
              <a:latin typeface="Roboto Light"/>
              <a:ea typeface="Roboto Light"/>
              <a:cs typeface="Roboto Light"/>
              <a:sym typeface="Roboto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Actions &amp; Recommendations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Recommended actions:</a:t>
            </a:r>
            <a:endParaRPr sz="2700"/>
          </a:p>
        </p:txBody>
      </p:sp>
      <p:sp>
        <p:nvSpPr>
          <p:cNvPr id="139" name="Google Shape;139;p25"/>
          <p:cNvSpPr txBox="1"/>
          <p:nvPr>
            <p:ph idx="1" type="body"/>
          </p:nvPr>
        </p:nvSpPr>
        <p:spPr>
          <a:xfrm>
            <a:off x="311700" y="1391000"/>
            <a:ext cx="82677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i="1" lang="en">
                <a:latin typeface="Roboto"/>
                <a:ea typeface="Roboto"/>
                <a:cs typeface="Roboto"/>
                <a:sym typeface="Roboto"/>
              </a:rPr>
              <a:t>Product recommendations:</a:t>
            </a:r>
            <a:endParaRPr b="1" i="1">
              <a:latin typeface="Roboto"/>
              <a:ea typeface="Roboto"/>
              <a:cs typeface="Roboto"/>
              <a:sym typeface="Roboto"/>
            </a:endParaRPr>
          </a:p>
          <a:p>
            <a:pPr indent="-342900" lvl="0" marL="457200" rtl="0" algn="l">
              <a:spcBef>
                <a:spcPts val="1200"/>
              </a:spcBef>
              <a:spcAft>
                <a:spcPts val="0"/>
              </a:spcAft>
              <a:buSzPts val="1800"/>
              <a:buChar char="●"/>
            </a:pPr>
            <a:r>
              <a:rPr i="1" lang="en"/>
              <a:t>Install more bikes at </a:t>
            </a:r>
            <a:r>
              <a:rPr i="1" lang="en" sz="1635"/>
              <a:t>the areas where the residential areas are nearer to the corporate or the offices, since we can see that the age groups who rents the car are the age groups between 34-44.</a:t>
            </a:r>
            <a:endParaRPr i="1" sz="1635"/>
          </a:p>
          <a:p>
            <a:pPr indent="0" lvl="0" marL="0" rtl="0" algn="l">
              <a:spcBef>
                <a:spcPts val="1200"/>
              </a:spcBef>
              <a:spcAft>
                <a:spcPts val="0"/>
              </a:spcAft>
              <a:buNone/>
            </a:pPr>
            <a:r>
              <a:rPr b="1" i="1" lang="en">
                <a:latin typeface="Roboto"/>
                <a:ea typeface="Roboto"/>
                <a:cs typeface="Roboto"/>
                <a:sym typeface="Roboto"/>
              </a:rPr>
              <a:t>Marketing recommendations:</a:t>
            </a:r>
            <a:endParaRPr b="1" i="1">
              <a:latin typeface="Roboto"/>
              <a:ea typeface="Roboto"/>
              <a:cs typeface="Roboto"/>
              <a:sym typeface="Roboto"/>
            </a:endParaRPr>
          </a:p>
          <a:p>
            <a:pPr indent="-342900" lvl="0" marL="457200" rtl="0" algn="l">
              <a:spcBef>
                <a:spcPts val="1200"/>
              </a:spcBef>
              <a:spcAft>
                <a:spcPts val="0"/>
              </a:spcAft>
              <a:buSzPts val="1800"/>
              <a:buChar char="●"/>
            </a:pPr>
            <a:r>
              <a:rPr i="1" lang="en"/>
              <a:t>The CitiBike customer base is mostly </a:t>
            </a:r>
            <a:r>
              <a:rPr i="1" lang="en">
                <a:solidFill>
                  <a:srgbClr val="FF0000"/>
                </a:solidFill>
              </a:rPr>
              <a:t>subscribed</a:t>
            </a:r>
            <a:r>
              <a:rPr i="1" lang="en"/>
              <a:t> users </a:t>
            </a:r>
            <a:r>
              <a:rPr i="1" lang="en"/>
              <a:t>aged between 34-44, who are most active </a:t>
            </a:r>
            <a:r>
              <a:rPr i="1" lang="en">
                <a:solidFill>
                  <a:srgbClr val="FF0000"/>
                </a:solidFill>
              </a:rPr>
              <a:t>weekday</a:t>
            </a:r>
            <a:r>
              <a:rPr i="1" lang="en"/>
              <a:t>. This tells us that they are probably people who live in New York and use Citi Bikes to commute. Marketing and advertising campaigns should therefore target this particular demographic. </a:t>
            </a:r>
            <a:endParaRPr i="1"/>
          </a:p>
          <a:p>
            <a:pPr indent="0" lvl="0" marL="914400" rtl="0" algn="l">
              <a:spcBef>
                <a:spcPts val="1200"/>
              </a:spcBef>
              <a:spcAft>
                <a:spcPts val="1200"/>
              </a:spcAft>
              <a:buNone/>
            </a:pPr>
            <a:r>
              <a:t/>
            </a:r>
            <a:endParaRPr i="1"/>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txBox="1"/>
          <p:nvPr>
            <p:ph type="title"/>
          </p:nvPr>
        </p:nvSpPr>
        <p:spPr>
          <a:xfrm>
            <a:off x="311700" y="1106125"/>
            <a:ext cx="8520600" cy="19635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